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71" r:id="rId3"/>
    <p:sldId id="258" r:id="rId4"/>
    <p:sldId id="259" r:id="rId5"/>
    <p:sldId id="270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9914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122575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078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3536500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48156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368026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427080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228082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132226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323731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122359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54B0983-F144-6147-8B6A-D285393150F9}" type="datetimeFigureOut">
              <a:rPr lang="ru-US" smtClean="0"/>
              <a:t>05/14/2026</a:t>
            </a:fld>
            <a:endParaRPr lang="ru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D2A6CCA-F488-F747-BB04-0FAA900D67A5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419079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467527" y="2434142"/>
            <a:ext cx="9144000" cy="8113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«Проектирование ИС «Спортивный комитет»»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982254" y="4277768"/>
            <a:ext cx="4850296" cy="2010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Чернышев А. </a:t>
            </a:r>
            <a:r>
              <a:rPr lang="ru-RU" sz="2000" kern="1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</a:t>
            </a:r>
            <a:endParaRPr lang="en-US" sz="2000" kern="11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000" kern="1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тудент </a:t>
            </a: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2000" kern="1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руппы </a:t>
            </a: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ИСиП-25-11-1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2000" kern="1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олжность</a:t>
            </a:r>
            <a:r>
              <a:rPr lang="ru-RU" sz="2000" kern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преподаватель проф. дисциплин</a:t>
            </a:r>
          </a:p>
          <a:p>
            <a:pPr algn="r"/>
            <a:endParaRPr lang="ru-RU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1059850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 ТЮМЕНСКОЙ ОБЛАСТИ 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18854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 Condensed" panose="020B0502040204020203" pitchFamily="34" charset="0"/>
              </a:rPr>
              <a:t>Описание предметной области</a:t>
            </a:r>
            <a:endParaRPr lang="ru-RU" dirty="0">
              <a:latin typeface="Bahnschrift Ligh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Bahnschrift Light Condensed" panose="020B0502040204020203" pitchFamily="34" charset="0"/>
              </a:rPr>
              <a:t>Спортивный комитет — это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организация, которая осуществляет </a:t>
            </a:r>
            <a:r>
              <a:rPr lang="ru-RU" sz="2800" dirty="0">
                <a:latin typeface="Bahnschrift Light Condensed" panose="020B0502040204020203" pitchFamily="34" charset="0"/>
              </a:rPr>
              <a:t>управление, организацию и контроль спортивных мероприятий, соревнований и спортивной деятельности. Основной задачей спортивного комитета является обеспечение эффективного проведения соревнований, координация участников спортивного процесса и соблюдение установленных правил и регламентов.</a:t>
            </a:r>
          </a:p>
        </p:txBody>
      </p:sp>
    </p:spTree>
    <p:extLst>
      <p:ext uri="{BB962C8B-B14F-4D97-AF65-F5344CB8AC3E}">
        <p14:creationId xmlns:p14="http://schemas.microsoft.com/office/powerpoint/2010/main" val="317005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61E94-455A-BC96-6B9C-85661039B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020" y="982812"/>
            <a:ext cx="4971526" cy="706964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Цель курсового проекта</a:t>
            </a:r>
            <a:endParaRPr lang="ru-US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D34ED7E4-1B97-2EFF-00F1-AD02A79A8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309" y="2200275"/>
            <a:ext cx="8654947" cy="2771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Bahnschrift Light Condensed" panose="020B0502040204020203" pitchFamily="34" charset="0"/>
              </a:rPr>
              <a:t>Целью курсового проекта является проектирование информационной системы «Спортивный комитет», предназначенной для автоматизации процессов организации, проведения и сопровождения спортивных соревнований.</a:t>
            </a:r>
            <a:r>
              <a:rPr lang="ru-US" sz="2800" dirty="0" smtClean="0">
                <a:effectLst/>
                <a:latin typeface="Bahnschrift Light Condensed" panose="020B0502040204020203" pitchFamily="34" charset="0"/>
              </a:rPr>
              <a:t> </a:t>
            </a:r>
            <a:endParaRPr lang="ru-US" sz="28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42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D19AC-C73C-49C8-2130-2474AAC0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671" y="791492"/>
            <a:ext cx="3365281" cy="57062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Объект исследования</a:t>
            </a:r>
            <a:endParaRPr lang="ru-US" sz="3200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B415B8-B845-54FD-939F-479DCAF8C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83" y="2637056"/>
            <a:ext cx="4749015" cy="3438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chemeClr val="tx1"/>
                </a:solidFill>
                <a:effectLst/>
                <a:latin typeface="Bahnschrift Light Condensed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Деятельность спортивного комитета, связанная с организацией и проведением спортивных соревнований</a:t>
            </a:r>
            <a:r>
              <a:rPr lang="ru-US" sz="3200" dirty="0">
                <a:solidFill>
                  <a:schemeClr val="tx1"/>
                </a:solidFill>
                <a:effectLst/>
                <a:latin typeface="Bahnschrift Light Condensed" panose="020B0502040204020203" pitchFamily="34" charset="0"/>
                <a:cs typeface="Times New Roman" panose="02020603050405020304" pitchFamily="18" charset="0"/>
              </a:rPr>
              <a:t> </a:t>
            </a:r>
            <a:endParaRPr lang="ru-US" sz="3200" dirty="0">
              <a:solidFill>
                <a:schemeClr val="tx1"/>
              </a:solidFill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05D6A57-BBA9-DE80-8937-A6F9434CA6AE}"/>
              </a:ext>
            </a:extLst>
          </p:cNvPr>
          <p:cNvSpPr>
            <a:spLocks noGrp="1"/>
          </p:cNvSpPr>
          <p:nvPr/>
        </p:nvSpPr>
        <p:spPr>
          <a:xfrm>
            <a:off x="6481604" y="2150623"/>
            <a:ext cx="4749013" cy="4411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US" sz="320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1047F5A-7CCD-233F-22D7-50B7E3EAAC1F}"/>
              </a:ext>
            </a:extLst>
          </p:cNvPr>
          <p:cNvSpPr txBox="1">
            <a:spLocks/>
          </p:cNvSpPr>
          <p:nvPr/>
        </p:nvSpPr>
        <p:spPr>
          <a:xfrm>
            <a:off x="7168294" y="677192"/>
            <a:ext cx="3375631" cy="79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Предмет исследования</a:t>
            </a:r>
            <a:endParaRPr lang="ru-US" sz="3200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EB5A060-41D9-3058-A746-73540B7E2448}"/>
              </a:ext>
            </a:extLst>
          </p:cNvPr>
          <p:cNvSpPr>
            <a:spLocks noGrp="1"/>
          </p:cNvSpPr>
          <p:nvPr/>
        </p:nvSpPr>
        <p:spPr>
          <a:xfrm>
            <a:off x="6253000" y="2637056"/>
            <a:ext cx="4749015" cy="3438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3200" dirty="0">
                <a:latin typeface="Bahnschrift Light Condensed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  <a:r>
              <a:rPr lang="ru-RU" sz="3200" dirty="0">
                <a:effectLst/>
                <a:latin typeface="Bahnschrift Light Condensed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роцессы автоматизации управления соревнованиями с использованием информационных технологий.</a:t>
            </a:r>
            <a:r>
              <a:rPr lang="ru-US" sz="3200" dirty="0">
                <a:effectLst/>
                <a:latin typeface="Bahnschrift Light Condensed" panose="020B0502040204020203" pitchFamily="34" charset="0"/>
                <a:cs typeface="Times New Roman" panose="02020603050405020304" pitchFamily="18" charset="0"/>
              </a:rPr>
              <a:t> </a:t>
            </a:r>
            <a:endParaRPr lang="ru-US" sz="3200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1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8673" y="266699"/>
            <a:ext cx="4564825" cy="1015047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Проблематика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704976"/>
            <a:ext cx="8758428" cy="4886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latin typeface="Bahnschrift Light Condensed" panose="020B0502040204020203" pitchFamily="34" charset="0"/>
              </a:rPr>
              <a:t>В </a:t>
            </a:r>
            <a:r>
              <a:rPr lang="ru-RU" sz="2000" dirty="0">
                <a:latin typeface="Bahnschrift Light Condensed" panose="020B0502040204020203" pitchFamily="34" charset="0"/>
              </a:rPr>
              <a:t>настоящее время деятельность спортивных </a:t>
            </a:r>
            <a:r>
              <a:rPr lang="ru-RU" sz="2000" dirty="0" smtClean="0">
                <a:latin typeface="Bahnschrift Light Condensed" panose="020B0502040204020203" pitchFamily="34" charset="0"/>
              </a:rPr>
              <a:t>комитетов </a:t>
            </a:r>
            <a:r>
              <a:rPr lang="ru-RU" sz="2000" dirty="0">
                <a:latin typeface="Bahnschrift Light Condensed" panose="020B0502040204020203" pitchFamily="34" charset="0"/>
              </a:rPr>
              <a:t>сопровождается обработкой большого объёма информации: регистрацией спортсменов, формированием расписания соревнований, назначением судей, ведением медицинского контроля и обработкой результатов. Во многих организациях данные процессы выполняются вручную или с использованием разрозненных программных средств, что приводит к ряду проблем</a:t>
            </a:r>
            <a:r>
              <a:rPr lang="ru-RU" sz="2000" dirty="0" smtClean="0">
                <a:latin typeface="Bahnschrift Light Condensed" panose="020B0502040204020203" pitchFamily="34" charset="0"/>
              </a:rPr>
              <a:t>:</a:t>
            </a:r>
            <a:endParaRPr lang="en-US" sz="2000" dirty="0" smtClean="0">
              <a:latin typeface="Bahnschrift Light Condensed" panose="020B0502040204020203" pitchFamily="34" charset="0"/>
            </a:endParaRPr>
          </a:p>
          <a:p>
            <a:r>
              <a:rPr lang="ru-RU" sz="2000" dirty="0" smtClean="0">
                <a:latin typeface="Bahnschrift Light Condensed" panose="020B0502040204020203" pitchFamily="34" charset="0"/>
              </a:rPr>
              <a:t>высокая </a:t>
            </a:r>
            <a:r>
              <a:rPr lang="ru-RU" sz="2000" dirty="0">
                <a:latin typeface="Bahnschrift Light Condensed" panose="020B0502040204020203" pitchFamily="34" charset="0"/>
              </a:rPr>
              <a:t>вероятность ошибок при обработке заявок и </a:t>
            </a:r>
            <a:r>
              <a:rPr lang="ru-RU" sz="2000" dirty="0" smtClean="0">
                <a:latin typeface="Bahnschrift Light Condensed" panose="020B0502040204020203" pitchFamily="34" charset="0"/>
              </a:rPr>
              <a:t>результатов</a:t>
            </a:r>
            <a:endParaRPr lang="en-US" sz="2000" dirty="0" smtClean="0">
              <a:latin typeface="Bahnschrift Light Condensed" panose="020B0502040204020203" pitchFamily="34" charset="0"/>
            </a:endParaRPr>
          </a:p>
          <a:p>
            <a:r>
              <a:rPr lang="ru-RU" sz="2000" dirty="0" smtClean="0">
                <a:latin typeface="Bahnschrift Light Condensed" panose="020B0502040204020203" pitchFamily="34" charset="0"/>
              </a:rPr>
              <a:t>длительное </a:t>
            </a:r>
            <a:r>
              <a:rPr lang="ru-RU" sz="2000" dirty="0">
                <a:latin typeface="Bahnschrift Light Condensed" panose="020B0502040204020203" pitchFamily="34" charset="0"/>
              </a:rPr>
              <a:t>формирование отчётности и </a:t>
            </a:r>
            <a:r>
              <a:rPr lang="ru-RU" sz="2000" dirty="0" smtClean="0">
                <a:latin typeface="Bahnschrift Light Condensed" panose="020B0502040204020203" pitchFamily="34" charset="0"/>
              </a:rPr>
              <a:t>протоколов</a:t>
            </a:r>
            <a:endParaRPr lang="en-US" sz="2000" dirty="0" smtClean="0">
              <a:latin typeface="Bahnschrift Light Condensed" panose="020B0502040204020203" pitchFamily="34" charset="0"/>
            </a:endParaRPr>
          </a:p>
          <a:p>
            <a:r>
              <a:rPr lang="ru-RU" sz="2000" dirty="0" smtClean="0">
                <a:latin typeface="Bahnschrift Light Condensed" panose="020B0502040204020203" pitchFamily="34" charset="0"/>
              </a:rPr>
              <a:t>отсутствие </a:t>
            </a:r>
            <a:r>
              <a:rPr lang="ru-RU" sz="2000" dirty="0">
                <a:latin typeface="Bahnschrift Light Condensed" panose="020B0502040204020203" pitchFamily="34" charset="0"/>
              </a:rPr>
              <a:t>централизованного хранения </a:t>
            </a:r>
            <a:r>
              <a:rPr lang="ru-RU" sz="2000" dirty="0" smtClean="0">
                <a:latin typeface="Bahnschrift Light Condensed" panose="020B0502040204020203" pitchFamily="34" charset="0"/>
              </a:rPr>
              <a:t>информации</a:t>
            </a:r>
            <a:endParaRPr lang="en-US" sz="2000" dirty="0" smtClean="0">
              <a:latin typeface="Bahnschrift Light Condensed" panose="020B0502040204020203" pitchFamily="34" charset="0"/>
            </a:endParaRPr>
          </a:p>
          <a:p>
            <a:r>
              <a:rPr lang="ru-RU" sz="2000" dirty="0" smtClean="0">
                <a:latin typeface="Bahnschrift Light Condensed" panose="020B0502040204020203" pitchFamily="34" charset="0"/>
              </a:rPr>
              <a:t>сложности </a:t>
            </a:r>
            <a:r>
              <a:rPr lang="ru-RU" sz="2000" dirty="0">
                <a:latin typeface="Bahnschrift Light Condensed" panose="020B0502040204020203" pitchFamily="34" charset="0"/>
              </a:rPr>
              <a:t>взаимодействия между организаторами, спортсменами и </a:t>
            </a:r>
            <a:r>
              <a:rPr lang="ru-RU" sz="2000" dirty="0" smtClean="0">
                <a:latin typeface="Bahnschrift Light Condensed" panose="020B0502040204020203" pitchFamily="34" charset="0"/>
              </a:rPr>
              <a:t>судьями</a:t>
            </a:r>
            <a:endParaRPr lang="en-US" sz="2000" dirty="0" smtClean="0">
              <a:latin typeface="Bahnschrift Light Condensed" panose="020B0502040204020203" pitchFamily="34" charset="0"/>
            </a:endParaRPr>
          </a:p>
          <a:p>
            <a:r>
              <a:rPr lang="ru-RU" sz="2000" dirty="0" smtClean="0">
                <a:latin typeface="Bahnschrift Light Condensed" panose="020B0502040204020203" pitchFamily="34" charset="0"/>
              </a:rPr>
              <a:t>дублирование </a:t>
            </a:r>
            <a:r>
              <a:rPr lang="ru-RU" sz="2000" dirty="0">
                <a:latin typeface="Bahnschrift Light Condensed" panose="020B0502040204020203" pitchFamily="34" charset="0"/>
              </a:rPr>
              <a:t>данных и потеря актуальной </a:t>
            </a:r>
            <a:r>
              <a:rPr lang="ru-RU" sz="2000" dirty="0" smtClean="0">
                <a:latin typeface="Bahnschrift Light Condensed" panose="020B0502040204020203" pitchFamily="34" charset="0"/>
              </a:rPr>
              <a:t>информации</a:t>
            </a:r>
            <a:endParaRPr lang="en-US" sz="2000" dirty="0" smtClean="0">
              <a:latin typeface="Bahnschrift Light Condensed" panose="020B0502040204020203" pitchFamily="34" charset="0"/>
            </a:endParaRPr>
          </a:p>
          <a:p>
            <a:r>
              <a:rPr lang="ru-RU" sz="2000" dirty="0" smtClean="0">
                <a:latin typeface="Bahnschrift Light Condensed" panose="020B0502040204020203" pitchFamily="34" charset="0"/>
              </a:rPr>
              <a:t>низкая </a:t>
            </a:r>
            <a:r>
              <a:rPr lang="ru-RU" sz="2000" dirty="0">
                <a:latin typeface="Bahnschrift Light Condensed" panose="020B0502040204020203" pitchFamily="34" charset="0"/>
              </a:rPr>
              <a:t>оперативность публикации результатов соревнований.</a:t>
            </a:r>
          </a:p>
          <a:p>
            <a:endParaRPr lang="ru-RU" sz="20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13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>
                <a:latin typeface="Bahnschrift Light Condensed" panose="020B0502040204020203" pitchFamily="34" charset="0"/>
              </a:rPr>
              <a:t>Основные бизнес-процессы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16100"/>
            <a:ext cx="5816600" cy="48768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800" dirty="0" smtClean="0">
                <a:latin typeface="Bahnschrift Light Condensed" panose="020B0502040204020203" pitchFamily="34" charset="0"/>
              </a:rPr>
              <a:t>1. </a:t>
            </a:r>
            <a:r>
              <a:rPr lang="ru-RU" sz="2800" dirty="0">
                <a:latin typeface="Bahnschrift Light Condensed" panose="020B0502040204020203" pitchFamily="34" charset="0"/>
              </a:rPr>
              <a:t>Организация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соревнований</a:t>
            </a:r>
            <a:r>
              <a:rPr lang="ru-RU" sz="2800" dirty="0">
                <a:latin typeface="Bahnschrift Light Condensed" panose="020B0502040204020203" pitchFamily="34" charset="0"/>
              </a:rPr>
              <a:t/>
            </a:r>
            <a:br>
              <a:rPr lang="ru-RU" sz="2800" dirty="0">
                <a:latin typeface="Bahnschrift Light Condensed" panose="020B0502040204020203" pitchFamily="34" charset="0"/>
              </a:rPr>
            </a:br>
            <a:r>
              <a:rPr lang="ru-RU" sz="2800" dirty="0">
                <a:latin typeface="Bahnschrift Light Condensed" panose="020B0502040204020203" pitchFamily="34" charset="0"/>
              </a:rPr>
              <a:t>2.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Назначение персонала</a:t>
            </a:r>
            <a:r>
              <a:rPr lang="ru-RU" sz="2800" dirty="0">
                <a:latin typeface="Bahnschrift Light Condensed" panose="020B0502040204020203" pitchFamily="34" charset="0"/>
              </a:rPr>
              <a:t/>
            </a:r>
            <a:br>
              <a:rPr lang="ru-RU" sz="2800" dirty="0">
                <a:latin typeface="Bahnschrift Light Condensed" panose="020B0502040204020203" pitchFamily="34" charset="0"/>
              </a:rPr>
            </a:br>
            <a:r>
              <a:rPr lang="ru-RU" sz="2800" dirty="0">
                <a:latin typeface="Bahnschrift Light Condensed" panose="020B0502040204020203" pitchFamily="34" charset="0"/>
              </a:rPr>
              <a:t>3. Медицинский контроль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участников</a:t>
            </a:r>
            <a:r>
              <a:rPr lang="ru-RU" sz="2800" dirty="0">
                <a:latin typeface="Bahnschrift Light Condensed" panose="020B0502040204020203" pitchFamily="34" charset="0"/>
              </a:rPr>
              <a:t/>
            </a:r>
            <a:br>
              <a:rPr lang="ru-RU" sz="2800" dirty="0">
                <a:latin typeface="Bahnschrift Light Condensed" panose="020B0502040204020203" pitchFamily="34" charset="0"/>
              </a:rPr>
            </a:br>
            <a:r>
              <a:rPr lang="ru-RU" sz="2800" dirty="0">
                <a:latin typeface="Bahnschrift Light Condensed" panose="020B0502040204020203" pitchFamily="34" charset="0"/>
              </a:rPr>
              <a:t>4. Регистрация участников соревнований</a:t>
            </a:r>
            <a:br>
              <a:rPr lang="ru-RU" sz="2800" dirty="0">
                <a:latin typeface="Bahnschrift Light Condensed" panose="020B0502040204020203" pitchFamily="34" charset="0"/>
              </a:rPr>
            </a:br>
            <a:r>
              <a:rPr lang="ru-RU" sz="2800" dirty="0">
                <a:latin typeface="Bahnschrift Light Condensed" panose="020B0502040204020203" pitchFamily="34" charset="0"/>
              </a:rPr>
              <a:t>5. Проведение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соревнований</a:t>
            </a:r>
            <a:r>
              <a:rPr lang="ru-RU" sz="2800" dirty="0">
                <a:latin typeface="Bahnschrift Light Condensed" panose="020B0502040204020203" pitchFamily="34" charset="0"/>
              </a:rPr>
              <a:t/>
            </a:r>
            <a:br>
              <a:rPr lang="ru-RU" sz="2800" dirty="0">
                <a:latin typeface="Bahnschrift Light Condensed" panose="020B0502040204020203" pitchFamily="34" charset="0"/>
              </a:rPr>
            </a:br>
            <a:r>
              <a:rPr lang="ru-RU" sz="2800" dirty="0">
                <a:latin typeface="Bahnschrift Light Condensed" panose="020B0502040204020203" pitchFamily="34" charset="0"/>
              </a:rPr>
              <a:t>6. Формирование итоговых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результатов</a:t>
            </a:r>
            <a:r>
              <a:rPr lang="ru-RU" sz="2800" dirty="0">
                <a:latin typeface="Bahnschrift Light Condensed" panose="020B0502040204020203" pitchFamily="34" charset="0"/>
              </a:rPr>
              <a:t/>
            </a:r>
            <a:br>
              <a:rPr lang="ru-RU" sz="2800" dirty="0">
                <a:latin typeface="Bahnschrift Light Condensed" panose="020B0502040204020203" pitchFamily="34" charset="0"/>
              </a:rPr>
            </a:br>
            <a:r>
              <a:rPr lang="ru-RU" sz="2800" dirty="0">
                <a:latin typeface="Bahnschrift Light Condensed" panose="020B0502040204020203" pitchFamily="34" charset="0"/>
              </a:rPr>
              <a:t>7. Формирование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отчётности</a:t>
            </a:r>
            <a:endParaRPr lang="ru-RU" sz="28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30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4413B-ACDB-55CC-C347-DF3A67CE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0"/>
            <a:ext cx="10515600" cy="1052085"/>
          </a:xfrm>
        </p:spPr>
        <p:txBody>
          <a:bodyPr/>
          <a:lstStyle/>
          <a:p>
            <a:pPr algn="ctr"/>
            <a:r>
              <a:rPr lang="ru-RU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Контекстная диаграмма </a:t>
            </a:r>
            <a:r>
              <a:rPr lang="en-US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IDEF0</a:t>
            </a:r>
            <a:endParaRPr lang="ru-US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8153207-84D5-CA4F-1FA1-A8D07E714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721" y="1145796"/>
            <a:ext cx="5875157" cy="556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34F50-E3C1-33EC-1D37-90E2DD77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1" y="479892"/>
            <a:ext cx="8761413" cy="706964"/>
          </a:xfrm>
        </p:spPr>
        <p:txBody>
          <a:bodyPr/>
          <a:lstStyle/>
          <a:p>
            <a:pPr algn="ctr"/>
            <a:r>
              <a:rPr lang="ru-RU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Диаграмма </a:t>
            </a:r>
            <a:r>
              <a:rPr lang="ru-RU" dirty="0" err="1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декомпозиции</a:t>
            </a:r>
            <a:r>
              <a:rPr lang="ru-RU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IDEF0</a:t>
            </a:r>
            <a:endParaRPr lang="ru-US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506A53F-880E-4072-C374-DAE2DA92B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32" y="1186857"/>
            <a:ext cx="8425145" cy="549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7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85166-5C6B-41E5-530B-A7C11B80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940" y="466344"/>
            <a:ext cx="7079437" cy="722058"/>
          </a:xfrm>
        </p:spPr>
        <p:txBody>
          <a:bodyPr/>
          <a:lstStyle/>
          <a:p>
            <a:pPr algn="ctr"/>
            <a:r>
              <a:rPr lang="ru-RU" dirty="0">
                <a:latin typeface="Bahnschrift Light Condensed" panose="020B0502040204020203" pitchFamily="34" charset="0"/>
              </a:rPr>
              <a:t>Контекстная диаграмма </a:t>
            </a:r>
            <a:r>
              <a:rPr lang="en-US" dirty="0">
                <a:latin typeface="Bahnschrift Light Condensed" panose="020B0502040204020203" pitchFamily="34" charset="0"/>
              </a:rPr>
              <a:t>DFD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7E89D5E-5008-0A0D-079A-60DE22972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770" y="1481328"/>
            <a:ext cx="6741775" cy="50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3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7862-AC41-A466-EB37-9543ED81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035" y="0"/>
            <a:ext cx="5184775" cy="950976"/>
          </a:xfrm>
        </p:spPr>
        <p:txBody>
          <a:bodyPr/>
          <a:lstStyle/>
          <a:p>
            <a:pPr algn="ctr"/>
            <a:r>
              <a:rPr lang="ru-RU" dirty="0">
                <a:latin typeface="Bahnschrift Light Condensed" panose="020B0502040204020203" pitchFamily="34" charset="0"/>
              </a:rPr>
              <a:t>Модель </a:t>
            </a:r>
            <a:r>
              <a:rPr lang="ru-RU" dirty="0" err="1">
                <a:latin typeface="Bahnschrift Light Condensed" panose="020B0502040204020203" pitchFamily="34" charset="0"/>
              </a:rPr>
              <a:t>декомпозиции</a:t>
            </a:r>
            <a:r>
              <a:rPr lang="ru-RU" dirty="0">
                <a:latin typeface="Bahnschrift Light Condensed" panose="020B0502040204020203" pitchFamily="34" charset="0"/>
              </a:rPr>
              <a:t> </a:t>
            </a:r>
            <a:r>
              <a:rPr lang="en-US" dirty="0">
                <a:latin typeface="Bahnschrift Light Condensed" panose="020B0502040204020203" pitchFamily="34" charset="0"/>
              </a:rPr>
              <a:t>DFD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6AF4830-E302-EE92-13B0-BD36883BB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96" y="1234440"/>
            <a:ext cx="5658852" cy="518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9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D8DF7-9222-9272-AFA7-2D15A61B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249" y="146304"/>
            <a:ext cx="7388352" cy="795210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Диаграмма </a:t>
            </a:r>
            <a:r>
              <a:rPr lang="ru-RU" dirty="0" smtClean="0">
                <a:latin typeface="Bahnschrift Light Condensed" panose="020B0502040204020203" pitchFamily="34" charset="0"/>
              </a:rPr>
              <a:t>вариантов</a:t>
            </a:r>
            <a:r>
              <a:rPr lang="en-US" dirty="0" smtClean="0">
                <a:latin typeface="Bahnschrift Light Condensed" panose="020B0502040204020203" pitchFamily="34" charset="0"/>
              </a:rPr>
              <a:t> </a:t>
            </a:r>
            <a:r>
              <a:rPr lang="ru-RU" dirty="0" smtClean="0">
                <a:latin typeface="Bahnschrift Light Condensed" panose="020B0502040204020203" pitchFamily="34" charset="0"/>
              </a:rPr>
              <a:t>использования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988148B-B724-7759-781C-C1F176EB5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17" y="1088136"/>
            <a:ext cx="5279215" cy="54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4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6657C-A685-5DEB-1758-839BF468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345" y="155448"/>
            <a:ext cx="4828159" cy="804354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Диаграмма деятельности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CCBC810-E7D0-948D-BBB7-394D78BEA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999" y="1087099"/>
            <a:ext cx="5214850" cy="56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8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79690-7289-5166-FC73-6BAEC71A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353" y="201168"/>
            <a:ext cx="5724144" cy="63061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 Light Condensed" panose="020B0502040204020203" pitchFamily="34" charset="0"/>
              </a:rPr>
              <a:t>Диаграмма последовательности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7783D45-EF9F-B6D8-3C77-52D9983DC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029" y="969264"/>
            <a:ext cx="6852791" cy="564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0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73A3B-762D-B7D3-CBD5-521638E8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259" y="173736"/>
            <a:ext cx="3918331" cy="813498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Диаграмма классов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AEB5949-BC62-F23A-D31E-324133758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88" y="1426464"/>
            <a:ext cx="9900472" cy="511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2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F2DAF-FA7C-FA6F-9A73-3FDD88BC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919" y="238124"/>
            <a:ext cx="6295009" cy="862647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Концептуальная модель данных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8D9A9E9-E0B9-E8CB-5A49-3149585E0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817" y="1100771"/>
            <a:ext cx="6621215" cy="545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6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29FC1-F9DD-BEA2-ABB8-D9C95BA5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743" y="237744"/>
            <a:ext cx="5317363" cy="758634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Логическая модель данных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A412060-C24D-B63D-BEB3-D6024BFF8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935" y="1152144"/>
            <a:ext cx="6834978" cy="544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6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063" y="1865860"/>
            <a:ext cx="8594725" cy="4277218"/>
          </a:xfr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0729FC1-F9DD-BEA2-ABB8-D9C95BA5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870" y="618744"/>
            <a:ext cx="5481130" cy="758634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Light Condensed" panose="020B0502040204020203" pitchFamily="34" charset="0"/>
              </a:rPr>
              <a:t>Физическая </a:t>
            </a:r>
            <a:r>
              <a:rPr lang="ru-RU" dirty="0">
                <a:latin typeface="Bahnschrift Light Condensed" panose="020B0502040204020203" pitchFamily="34" charset="0"/>
              </a:rPr>
              <a:t>модель данных</a:t>
            </a:r>
            <a:endParaRPr lang="ru-US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01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9574" y="0"/>
            <a:ext cx="3102490" cy="696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2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1286" y="131082"/>
            <a:ext cx="5959617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9700" y="457200"/>
            <a:ext cx="6333341" cy="60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7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975" y="292100"/>
            <a:ext cx="9134178" cy="595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4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600" y="230861"/>
            <a:ext cx="5866610" cy="639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1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 Condensed" panose="020B0502040204020203" pitchFamily="34" charset="0"/>
              </a:rPr>
              <a:t>Заключение</a:t>
            </a:r>
            <a:endParaRPr lang="ru-RU" dirty="0">
              <a:latin typeface="Bahnschrift Ligh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Bahnschrift Light Condensed" panose="020B0502040204020203" pitchFamily="34" charset="0"/>
              </a:rPr>
              <a:t>В процессе работы был проведён анализ предметной </a:t>
            </a:r>
            <a:r>
              <a:rPr lang="ru-RU" sz="2800" dirty="0" smtClean="0">
                <a:latin typeface="Bahnschrift Light Condensed" panose="020B0502040204020203" pitchFamily="34" charset="0"/>
              </a:rPr>
              <a:t>области. </a:t>
            </a:r>
            <a:r>
              <a:rPr lang="ru-RU" sz="2800" dirty="0">
                <a:latin typeface="Bahnschrift Light Condensed" panose="020B0502040204020203" pitchFamily="34" charset="0"/>
              </a:rPr>
              <a:t>Для описания функциональности системы были разработаны модели в нотациях IDEF0 и DFD, а также построены UML-диаграммы, позволяющие отразить структуру и принципы взаимодействия компонентов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49179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178</TotalTime>
  <Words>350</Words>
  <Application>Microsoft Office PowerPoint</Application>
  <PresentationFormat>Широкоэкранный</PresentationFormat>
  <Paragraphs>41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Aptos</vt:lpstr>
      <vt:lpstr>Arial</vt:lpstr>
      <vt:lpstr>Bahnschrift Light Condensed</vt:lpstr>
      <vt:lpstr>Century Schoolbook</vt:lpstr>
      <vt:lpstr>Times New Roman</vt:lpstr>
      <vt:lpstr>Wingdings 2</vt:lpstr>
      <vt:lpstr>View</vt:lpstr>
      <vt:lpstr>Презентация PowerPoint</vt:lpstr>
      <vt:lpstr>Описание предметной области</vt:lpstr>
      <vt:lpstr>Цель курсового проекта</vt:lpstr>
      <vt:lpstr>Объект исследования</vt:lpstr>
      <vt:lpstr>Проблематика проекта</vt:lpstr>
      <vt:lpstr>Основные бизнес-процессы системы</vt:lpstr>
      <vt:lpstr>Контекстная диаграмма IDEF0</vt:lpstr>
      <vt:lpstr>Диаграмма декомпозиции IDEF0</vt:lpstr>
      <vt:lpstr>Контекстная диаграмма DFD</vt:lpstr>
      <vt:lpstr>Модель декомпозиции DFD</vt:lpstr>
      <vt:lpstr>Диаграмма вариантов использования</vt:lpstr>
      <vt:lpstr>Диаграмма деятельности</vt:lpstr>
      <vt:lpstr>Диаграмма последовательности</vt:lpstr>
      <vt:lpstr>Диаграмма классов</vt:lpstr>
      <vt:lpstr>Концептуальная модель данных</vt:lpstr>
      <vt:lpstr>Логическая модель данных</vt:lpstr>
      <vt:lpstr>Физическая модель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Anton Chernyshev</dc:creator>
  <cp:lastModifiedBy>Student</cp:lastModifiedBy>
  <cp:revision>16</cp:revision>
  <dcterms:created xsi:type="dcterms:W3CDTF">2026-05-14T05:55:13Z</dcterms:created>
  <dcterms:modified xsi:type="dcterms:W3CDTF">2026-05-14T10:15:07Z</dcterms:modified>
</cp:coreProperties>
</file>